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4542682f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4542682f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f9202aa6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2f9202aa6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06eb081d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06eb081d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rPr>
              <a:t>technical order system</a:t>
            </a:r>
            <a:endParaRPr sz="28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06eb081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06eb081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Many complicated and confusing Problems: </a:t>
            </a:r>
            <a:r>
              <a:rPr lang="en" sz="900">
                <a:solidFill>
                  <a:schemeClr val="dk1"/>
                </a:solidFill>
                <a:latin typeface="Times New Roman"/>
                <a:ea typeface="Times New Roman"/>
                <a:cs typeface="Times New Roman"/>
                <a:sym typeface="Times New Roman"/>
              </a:rPr>
              <a:t>Whenever maintenance staffs are waiting for a part, the supplier gives them an estimated time, but it's usually wrong.</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And, when staffs order a part and get something completely different? That's pretty common.</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Because staffs spent all that time waiting for a part that they thought was the right one and it turns out not to be. That's a lot of wasted time.</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The crew chief, the person who launches the airplane, will get the airplane ready four hours in advance to make sure it's ready to launch. Maintenance gets a call that they need to put Seat Pallets in the airplane, but all the Seat Pallets are broken and there's nothing to put on them. This may prevent the pilot from flying.</a:t>
            </a:r>
            <a:endParaRPr sz="9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900">
                <a:solidFill>
                  <a:schemeClr val="dk1"/>
                </a:solidFill>
                <a:latin typeface="Times New Roman"/>
                <a:ea typeface="Times New Roman"/>
                <a:cs typeface="Times New Roman"/>
                <a:sym typeface="Times New Roman"/>
              </a:rPr>
              <a:t>Boeing parts were supposed to go from their ordering system to the Air Force's ordering system, but they never did.</a:t>
            </a:r>
            <a:endParaRPr sz="9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8e8802d1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28e8802d1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8e8802d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28e8802d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8e8802d1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8e8802d1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8e8802d1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28e8802d1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8e8802d1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8e8802d1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595959"/>
                </a:solidFill>
              </a:rPr>
              <a:t>The employees from Boeing. They had a lot of insight into the actual system and the workarounds they took to update the content.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USAF-558 - Supply Chain Communication</a:t>
            </a:r>
            <a:endParaRPr/>
          </a:p>
        </p:txBody>
      </p:sp>
      <p:sp>
        <p:nvSpPr>
          <p:cNvPr id="87" name="Google Shape;87;p13"/>
          <p:cNvSpPr txBox="1"/>
          <p:nvPr>
            <p:ph idx="1" type="subTitle"/>
          </p:nvPr>
        </p:nvSpPr>
        <p:spPr>
          <a:xfrm>
            <a:off x="729625" y="3172900"/>
            <a:ext cx="7688100" cy="182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Carter Vannelli</a:t>
            </a:r>
            <a:endParaRPr/>
          </a:p>
          <a:p>
            <a:pPr indent="0" lvl="0" marL="0" rtl="0" algn="l">
              <a:spcBef>
                <a:spcPts val="0"/>
              </a:spcBef>
              <a:spcAft>
                <a:spcPts val="0"/>
              </a:spcAft>
              <a:buClr>
                <a:schemeClr val="dk1"/>
              </a:buClr>
              <a:buSzPts val="1100"/>
              <a:buFont typeface="Arial"/>
              <a:buNone/>
            </a:pPr>
            <a:r>
              <a:rPr lang="en"/>
              <a:t>Matthew Glos</a:t>
            </a:r>
            <a:endParaRPr/>
          </a:p>
          <a:p>
            <a:pPr indent="0" lvl="0" marL="0" rtl="0" algn="l">
              <a:spcBef>
                <a:spcPts val="0"/>
              </a:spcBef>
              <a:spcAft>
                <a:spcPts val="0"/>
              </a:spcAft>
              <a:buClr>
                <a:schemeClr val="dk1"/>
              </a:buClr>
              <a:buSzPts val="1100"/>
              <a:buFont typeface="Arial"/>
              <a:buNone/>
            </a:pPr>
            <a:r>
              <a:rPr lang="en"/>
              <a:t>Hao Wang</a:t>
            </a:r>
            <a:endParaRPr/>
          </a:p>
          <a:p>
            <a:pPr indent="0" lvl="0" marL="0" rtl="0" algn="l">
              <a:spcBef>
                <a:spcPts val="0"/>
              </a:spcBef>
              <a:spcAft>
                <a:spcPts val="0"/>
              </a:spcAft>
              <a:buClr>
                <a:schemeClr val="dk1"/>
              </a:buClr>
              <a:buSzPts val="1100"/>
              <a:buFont typeface="Arial"/>
              <a:buNone/>
            </a:pPr>
            <a:r>
              <a:rPr lang="en"/>
              <a:t>Ryan Becker</a:t>
            </a:r>
            <a:endParaRPr/>
          </a:p>
          <a:p>
            <a:pPr indent="0" lvl="0" marL="0" rtl="0" algn="l">
              <a:spcBef>
                <a:spcPts val="0"/>
              </a:spcBef>
              <a:spcAft>
                <a:spcPts val="0"/>
              </a:spcAft>
              <a:buClr>
                <a:schemeClr val="dk1"/>
              </a:buClr>
              <a:buSzPts val="1100"/>
              <a:buFont typeface="Arial"/>
              <a:buNone/>
            </a:pPr>
            <a:r>
              <a:rPr lang="en"/>
              <a:t>Liuhai Wang</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93" name="Google Shape;93;p14"/>
          <p:cNvSpPr txBox="1"/>
          <p:nvPr>
            <p:ph idx="1" type="body"/>
          </p:nvPr>
        </p:nvSpPr>
        <p:spPr>
          <a:xfrm>
            <a:off x="768200" y="2078875"/>
            <a:ext cx="5423100" cy="2261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853"/>
              <a:buNone/>
            </a:pPr>
            <a:r>
              <a:rPr b="1" lang="en" sz="1053">
                <a:solidFill>
                  <a:srgbClr val="000000"/>
                </a:solidFill>
                <a:latin typeface="Arial"/>
                <a:ea typeface="Arial"/>
                <a:cs typeface="Arial"/>
                <a:sym typeface="Arial"/>
              </a:rPr>
              <a:t>Parts Ordering System</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KC-46 Aircraft</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Aar Mobility</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Standardization</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Operational Efficiency</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COMBS Ordering System</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1053">
                <a:solidFill>
                  <a:srgbClr val="000000"/>
                </a:solidFill>
                <a:latin typeface="Arial"/>
                <a:ea typeface="Arial"/>
                <a:cs typeface="Arial"/>
                <a:sym typeface="Arial"/>
              </a:rPr>
              <a:t>Supplier Communication</a:t>
            </a:r>
            <a:endParaRPr b="1" sz="1053">
              <a:solidFill>
                <a:srgbClr val="000000"/>
              </a:solidFill>
              <a:latin typeface="Arial"/>
              <a:ea typeface="Arial"/>
              <a:cs typeface="Arial"/>
              <a:sym typeface="Arial"/>
            </a:endParaRPr>
          </a:p>
          <a:p>
            <a:pPr indent="0" lvl="0" marL="0" rtl="0" algn="l">
              <a:lnSpc>
                <a:spcPct val="100000"/>
              </a:lnSpc>
              <a:spcBef>
                <a:spcPts val="1200"/>
              </a:spcBef>
              <a:spcAft>
                <a:spcPts val="1200"/>
              </a:spcAft>
              <a:buClr>
                <a:schemeClr val="dk1"/>
              </a:buClr>
              <a:buSzPts val="853"/>
              <a:buFont typeface="Arial"/>
              <a:buNone/>
            </a:pPr>
            <a:r>
              <a:t/>
            </a:r>
            <a:endParaRPr b="1" sz="1053">
              <a:solidFill>
                <a:srgbClr val="000000"/>
              </a:solidFill>
              <a:latin typeface="Arial"/>
              <a:ea typeface="Arial"/>
              <a:cs typeface="Arial"/>
              <a:sym typeface="Arial"/>
            </a:endParaRPr>
          </a:p>
        </p:txBody>
      </p:sp>
      <p:pic>
        <p:nvPicPr>
          <p:cNvPr id="94" name="Google Shape;94;p14"/>
          <p:cNvPicPr preferRelativeResize="0"/>
          <p:nvPr/>
        </p:nvPicPr>
        <p:blipFill>
          <a:blip r:embed="rId3">
            <a:alphaModFix/>
          </a:blip>
          <a:stretch>
            <a:fillRect/>
          </a:stretch>
        </p:blipFill>
        <p:spPr>
          <a:xfrm>
            <a:off x="6191300" y="848725"/>
            <a:ext cx="2991450" cy="203419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technical order system</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 name="Google Shape;101;p15"/>
          <p:cNvPicPr preferRelativeResize="0"/>
          <p:nvPr/>
        </p:nvPicPr>
        <p:blipFill>
          <a:blip r:embed="rId3">
            <a:alphaModFix/>
          </a:blip>
          <a:stretch>
            <a:fillRect/>
          </a:stretch>
        </p:blipFill>
        <p:spPr>
          <a:xfrm>
            <a:off x="4" y="0"/>
            <a:ext cx="9143998" cy="5143501"/>
          </a:xfrm>
          <a:prstGeom prst="rect">
            <a:avLst/>
          </a:prstGeom>
          <a:noFill/>
          <a:ln>
            <a:noFill/>
          </a:ln>
        </p:spPr>
      </p:pic>
      <p:sp>
        <p:nvSpPr>
          <p:cNvPr id="102" name="Google Shape;102;p15"/>
          <p:cNvSpPr txBox="1"/>
          <p:nvPr/>
        </p:nvSpPr>
        <p:spPr>
          <a:xfrm>
            <a:off x="292225" y="361625"/>
            <a:ext cx="2789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b="1" lang="en" sz="1600">
                <a:solidFill>
                  <a:schemeClr val="dk1"/>
                </a:solidFill>
                <a:latin typeface="Times New Roman"/>
                <a:ea typeface="Times New Roman"/>
                <a:cs typeface="Times New Roman"/>
                <a:sym typeface="Times New Roman"/>
              </a:rPr>
              <a:t>Technical order system</a:t>
            </a:r>
            <a:endParaRPr b="1" sz="2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42308"/>
              <a:buFont typeface="Arial"/>
              <a:buNone/>
            </a:pPr>
            <a:r>
              <a:rPr lang="en"/>
              <a:t>Parts Ordering Process</a:t>
            </a:r>
            <a:endParaRPr/>
          </a:p>
          <a:p>
            <a:pPr indent="0" lvl="0" marL="0" rtl="0" algn="l">
              <a:spcBef>
                <a:spcPts val="1200"/>
              </a:spcBef>
              <a:spcAft>
                <a:spcPts val="0"/>
              </a:spcAft>
              <a:buNone/>
            </a:pPr>
            <a:r>
              <a:t/>
            </a:r>
            <a:endParaRPr/>
          </a:p>
        </p:txBody>
      </p:sp>
      <p:sp>
        <p:nvSpPr>
          <p:cNvPr id="108" name="Google Shape;108;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15 different ways to order</a:t>
            </a:r>
            <a:endParaRPr/>
          </a:p>
          <a:p>
            <a:pPr indent="0" lvl="0" marL="0" rtl="0" algn="l">
              <a:spcBef>
                <a:spcPts val="1200"/>
              </a:spcBef>
              <a:spcAft>
                <a:spcPts val="0"/>
              </a:spcAft>
              <a:buNone/>
            </a:pPr>
            <a:r>
              <a:rPr lang="en"/>
              <a:t>4 different systems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sz="1200">
                <a:solidFill>
                  <a:schemeClr val="dk2"/>
                </a:solidFill>
              </a:rPr>
              <a:t>Besides, there are many complicated and confusing Problems</a:t>
            </a:r>
            <a:endParaRPr sz="900">
              <a:solidFill>
                <a:schemeClr val="dk2"/>
              </a:solidFill>
            </a:endParaRPr>
          </a:p>
        </p:txBody>
      </p:sp>
      <p:pic>
        <p:nvPicPr>
          <p:cNvPr id="109" name="Google Shape;109;p16"/>
          <p:cNvPicPr preferRelativeResize="0"/>
          <p:nvPr/>
        </p:nvPicPr>
        <p:blipFill>
          <a:blip r:embed="rId3">
            <a:alphaModFix/>
          </a:blip>
          <a:stretch>
            <a:fillRect/>
          </a:stretch>
        </p:blipFill>
        <p:spPr>
          <a:xfrm>
            <a:off x="4988421" y="1577275"/>
            <a:ext cx="3743050" cy="21639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Beneficiary Discovery</a:t>
            </a:r>
            <a:endParaRPr/>
          </a:p>
        </p:txBody>
      </p:sp>
      <p:sp>
        <p:nvSpPr>
          <p:cNvPr id="115" name="Google Shape;115;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KC-46 Crew Maintenance: Directly use the system for parts ordering and maintenance.</a:t>
            </a:r>
            <a:endParaRPr sz="1500"/>
          </a:p>
          <a:p>
            <a:pPr indent="0" lvl="0" marL="0" rtl="0" algn="l">
              <a:spcBef>
                <a:spcPts val="1200"/>
              </a:spcBef>
              <a:spcAft>
                <a:spcPts val="0"/>
              </a:spcAft>
              <a:buNone/>
            </a:pPr>
            <a:r>
              <a:rPr lang="en" sz="1500"/>
              <a:t>Logistics department: Responsible for material management and supply chain coordination.</a:t>
            </a:r>
            <a:endParaRPr sz="1500"/>
          </a:p>
          <a:p>
            <a:pPr indent="0" lvl="0" marL="0" rtl="0" algn="l">
              <a:spcBef>
                <a:spcPts val="1200"/>
              </a:spcBef>
              <a:spcAft>
                <a:spcPts val="1200"/>
              </a:spcAft>
              <a:buNone/>
            </a:pPr>
            <a:r>
              <a:rPr lang="en" sz="1500"/>
              <a:t>Pilots and aircrew: Increased aircraft availability and smoother mission execution due to improved maintenance efficiency.</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Mission Model Canvas</a:t>
            </a:r>
            <a:endParaRPr/>
          </a:p>
        </p:txBody>
      </p:sp>
      <p:sp>
        <p:nvSpPr>
          <p:cNvPr id="121" name="Google Shape;121;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18"/>
          <p:cNvPicPr preferRelativeResize="0"/>
          <p:nvPr/>
        </p:nvPicPr>
        <p:blipFill>
          <a:blip r:embed="rId3">
            <a:alphaModFix/>
          </a:blip>
          <a:stretch>
            <a:fillRect/>
          </a:stretch>
        </p:blipFill>
        <p:spPr>
          <a:xfrm>
            <a:off x="2" y="0"/>
            <a:ext cx="9144000" cy="5143499"/>
          </a:xfrm>
          <a:prstGeom prst="rect">
            <a:avLst/>
          </a:prstGeom>
          <a:noFill/>
          <a:ln>
            <a:noFill/>
          </a:ln>
        </p:spPr>
      </p:pic>
      <p:sp>
        <p:nvSpPr>
          <p:cNvPr id="123" name="Google Shape;123;p18"/>
          <p:cNvSpPr txBox="1"/>
          <p:nvPr/>
        </p:nvSpPr>
        <p:spPr>
          <a:xfrm>
            <a:off x="7182200" y="893550"/>
            <a:ext cx="1485600" cy="21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rPr>
              <a:t>KC 46 Aircraft Maintenance Squadron, </a:t>
            </a:r>
            <a:endParaRPr sz="1500">
              <a:solidFill>
                <a:schemeClr val="dk2"/>
              </a:solidFill>
            </a:endParaRPr>
          </a:p>
          <a:p>
            <a:pPr indent="0" lvl="0" marL="0" rtl="0" algn="l">
              <a:spcBef>
                <a:spcPts val="0"/>
              </a:spcBef>
              <a:spcAft>
                <a:spcPts val="0"/>
              </a:spcAft>
              <a:buNone/>
            </a:pPr>
            <a:r>
              <a:rPr lang="en" sz="1500">
                <a:solidFill>
                  <a:schemeClr val="dk2"/>
                </a:solidFill>
              </a:rPr>
              <a:t>Aircraft Pilots, </a:t>
            </a:r>
            <a:endParaRPr sz="1500">
              <a:solidFill>
                <a:schemeClr val="dk2"/>
              </a:solidFill>
            </a:endParaRPr>
          </a:p>
          <a:p>
            <a:pPr indent="0" lvl="0" marL="0" rtl="0" algn="l">
              <a:spcBef>
                <a:spcPts val="0"/>
              </a:spcBef>
              <a:spcAft>
                <a:spcPts val="0"/>
              </a:spcAft>
              <a:buNone/>
            </a:pPr>
            <a:r>
              <a:rPr lang="en" sz="1500">
                <a:solidFill>
                  <a:schemeClr val="dk2"/>
                </a:solidFill>
              </a:rPr>
              <a:t>Logistics Squadron,</a:t>
            </a:r>
            <a:endParaRPr sz="1500">
              <a:solidFill>
                <a:schemeClr val="dk2"/>
              </a:solidFill>
            </a:endParaRPr>
          </a:p>
          <a:p>
            <a:pPr indent="0" lvl="0" marL="0" rtl="0" algn="l">
              <a:spcBef>
                <a:spcPts val="0"/>
              </a:spcBef>
              <a:spcAft>
                <a:spcPts val="0"/>
              </a:spcAft>
              <a:buNone/>
            </a:pPr>
            <a:r>
              <a:rPr lang="en" sz="1500">
                <a:solidFill>
                  <a:schemeClr val="dk2"/>
                </a:solidFill>
              </a:rPr>
              <a:t>Other members on the base</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124" name="Google Shape;124;p18"/>
          <p:cNvSpPr txBox="1"/>
          <p:nvPr/>
        </p:nvSpPr>
        <p:spPr>
          <a:xfrm>
            <a:off x="524200" y="859675"/>
            <a:ext cx="1427400" cy="22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rPr>
              <a:t>USAF,</a:t>
            </a:r>
            <a:endParaRPr sz="1600">
              <a:solidFill>
                <a:schemeClr val="dk2"/>
              </a:solidFill>
            </a:endParaRPr>
          </a:p>
          <a:p>
            <a:pPr indent="0" lvl="0" marL="0" rtl="0" algn="l">
              <a:spcBef>
                <a:spcPts val="0"/>
              </a:spcBef>
              <a:spcAft>
                <a:spcPts val="0"/>
              </a:spcAft>
              <a:buNone/>
            </a:pPr>
            <a:r>
              <a:rPr lang="en" sz="1600">
                <a:solidFill>
                  <a:schemeClr val="dk2"/>
                </a:solidFill>
              </a:rPr>
              <a:t>KC-46 Crew,</a:t>
            </a:r>
            <a:endParaRPr sz="1600">
              <a:solidFill>
                <a:schemeClr val="dk2"/>
              </a:solidFill>
            </a:endParaRPr>
          </a:p>
          <a:p>
            <a:pPr indent="0" lvl="0" marL="0" rtl="0" algn="l">
              <a:spcBef>
                <a:spcPts val="0"/>
              </a:spcBef>
              <a:spcAft>
                <a:spcPts val="0"/>
              </a:spcAft>
              <a:buNone/>
            </a:pPr>
            <a:r>
              <a:rPr lang="en" sz="1600">
                <a:solidFill>
                  <a:schemeClr val="dk2"/>
                </a:solidFill>
              </a:rPr>
              <a:t>AAR Mobility Systems,</a:t>
            </a:r>
            <a:endParaRPr sz="1600">
              <a:solidFill>
                <a:schemeClr val="dk2"/>
              </a:solidFill>
            </a:endParaRPr>
          </a:p>
          <a:p>
            <a:pPr indent="0" lvl="0" marL="0" rtl="0" algn="l">
              <a:spcBef>
                <a:spcPts val="0"/>
              </a:spcBef>
              <a:spcAft>
                <a:spcPts val="0"/>
              </a:spcAft>
              <a:buNone/>
            </a:pPr>
            <a:r>
              <a:rPr lang="en" sz="1600">
                <a:solidFill>
                  <a:schemeClr val="dk2"/>
                </a:solidFill>
              </a:rPr>
              <a:t>Boeing</a:t>
            </a:r>
            <a:endParaRPr sz="1600">
              <a:solidFill>
                <a:schemeClr val="dk2"/>
              </a:solidFill>
            </a:endParaRPr>
          </a:p>
        </p:txBody>
      </p:sp>
      <p:sp>
        <p:nvSpPr>
          <p:cNvPr id="125" name="Google Shape;125;p18"/>
          <p:cNvSpPr txBox="1"/>
          <p:nvPr/>
        </p:nvSpPr>
        <p:spPr>
          <a:xfrm>
            <a:off x="524200" y="3690300"/>
            <a:ext cx="2678700" cy="6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solidFill>
                  <a:schemeClr val="dk2"/>
                </a:solidFill>
              </a:rPr>
              <a:t>Software Development Costs</a:t>
            </a:r>
            <a:endParaRPr sz="1300">
              <a:solidFill>
                <a:schemeClr val="dk2"/>
              </a:solidFill>
            </a:endParaRPr>
          </a:p>
          <a:p>
            <a:pPr indent="0" lvl="0" marL="0" rtl="0" algn="l">
              <a:spcBef>
                <a:spcPts val="0"/>
              </a:spcBef>
              <a:spcAft>
                <a:spcPts val="0"/>
              </a:spcAft>
              <a:buClr>
                <a:schemeClr val="dk1"/>
              </a:buClr>
              <a:buSzPts val="1100"/>
              <a:buFont typeface="Arial"/>
              <a:buNone/>
            </a:pPr>
            <a:r>
              <a:rPr lang="en" sz="1300">
                <a:solidFill>
                  <a:schemeClr val="dk2"/>
                </a:solidFill>
              </a:rPr>
              <a:t>Hardware procurement</a:t>
            </a:r>
            <a:endParaRPr sz="1300">
              <a:solidFill>
                <a:schemeClr val="dk2"/>
              </a:solidFill>
            </a:endParaRPr>
          </a:p>
          <a:p>
            <a:pPr indent="0" lvl="0" marL="0" rtl="0" algn="l">
              <a:spcBef>
                <a:spcPts val="0"/>
              </a:spcBef>
              <a:spcAft>
                <a:spcPts val="0"/>
              </a:spcAft>
              <a:buClr>
                <a:schemeClr val="dk1"/>
              </a:buClr>
              <a:buSzPts val="1100"/>
              <a:buFont typeface="Arial"/>
              <a:buNone/>
            </a:pPr>
            <a:r>
              <a:rPr lang="en" sz="1300">
                <a:solidFill>
                  <a:schemeClr val="dk2"/>
                </a:solidFill>
              </a:rPr>
              <a:t>Staff training costs</a:t>
            </a:r>
            <a:endParaRPr sz="1300">
              <a:solidFill>
                <a:schemeClr val="dk2"/>
              </a:solidFill>
            </a:endParaRPr>
          </a:p>
        </p:txBody>
      </p:sp>
      <p:sp>
        <p:nvSpPr>
          <p:cNvPr id="126" name="Google Shape;126;p18"/>
          <p:cNvSpPr txBox="1"/>
          <p:nvPr/>
        </p:nvSpPr>
        <p:spPr>
          <a:xfrm>
            <a:off x="2174475" y="825925"/>
            <a:ext cx="1291800" cy="11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a:t>
            </a:r>
            <a:endParaRPr sz="1200">
              <a:solidFill>
                <a:schemeClr val="dk2"/>
              </a:solidFill>
            </a:endParaRPr>
          </a:p>
        </p:txBody>
      </p:sp>
      <p:sp>
        <p:nvSpPr>
          <p:cNvPr id="127" name="Google Shape;127;p18"/>
          <p:cNvSpPr txBox="1"/>
          <p:nvPr/>
        </p:nvSpPr>
        <p:spPr>
          <a:xfrm>
            <a:off x="5550600" y="861175"/>
            <a:ext cx="1374000" cy="10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rPr>
              <a:t>KC-46 Crew,</a:t>
            </a:r>
            <a:endParaRPr sz="1300">
              <a:solidFill>
                <a:schemeClr val="dk2"/>
              </a:solidFill>
            </a:endParaRPr>
          </a:p>
          <a:p>
            <a:pPr indent="0" lvl="0" marL="0" rtl="0" algn="l">
              <a:spcBef>
                <a:spcPts val="0"/>
              </a:spcBef>
              <a:spcAft>
                <a:spcPts val="0"/>
              </a:spcAft>
              <a:buNone/>
            </a:pPr>
            <a:r>
              <a:rPr lang="en" sz="1300">
                <a:solidFill>
                  <a:schemeClr val="dk2"/>
                </a:solidFill>
              </a:rPr>
              <a:t>AAR Mobility Systems,</a:t>
            </a:r>
            <a:endParaRPr sz="1300">
              <a:solidFill>
                <a:schemeClr val="dk2"/>
              </a:solidFill>
            </a:endParaRPr>
          </a:p>
          <a:p>
            <a:pPr indent="0" lvl="0" marL="0" rtl="0" algn="l">
              <a:spcBef>
                <a:spcPts val="0"/>
              </a:spcBef>
              <a:spcAft>
                <a:spcPts val="0"/>
              </a:spcAft>
              <a:buNone/>
            </a:pPr>
            <a:r>
              <a:rPr lang="en" sz="1300">
                <a:solidFill>
                  <a:schemeClr val="dk2"/>
                </a:solidFill>
              </a:rPr>
              <a:t>USAF</a:t>
            </a:r>
            <a:endParaRPr sz="1300">
              <a:solidFill>
                <a:schemeClr val="dk2"/>
              </a:solidFill>
            </a:endParaRPr>
          </a:p>
        </p:txBody>
      </p:sp>
      <p:sp>
        <p:nvSpPr>
          <p:cNvPr id="128" name="Google Shape;128;p18"/>
          <p:cNvSpPr txBox="1"/>
          <p:nvPr/>
        </p:nvSpPr>
        <p:spPr>
          <a:xfrm>
            <a:off x="4687475" y="3773475"/>
            <a:ext cx="3857700" cy="65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Allow end-users to more efficiently inventory,</a:t>
            </a:r>
            <a:endParaRPr>
              <a:solidFill>
                <a:schemeClr val="dk2"/>
              </a:solidFill>
            </a:endParaRPr>
          </a:p>
          <a:p>
            <a:pPr indent="0" lvl="0" marL="0" rtl="0" algn="l">
              <a:spcBef>
                <a:spcPts val="0"/>
              </a:spcBef>
              <a:spcAft>
                <a:spcPts val="0"/>
              </a:spcAft>
              <a:buNone/>
            </a:pPr>
            <a:r>
              <a:rPr lang="en">
                <a:solidFill>
                  <a:schemeClr val="dk2"/>
                </a:solidFill>
              </a:rPr>
              <a:t>order, and maintain equipments</a:t>
            </a:r>
            <a:endParaRPr>
              <a:solidFill>
                <a:schemeClr val="dk2"/>
              </a:solidFill>
            </a:endParaRPr>
          </a:p>
        </p:txBody>
      </p:sp>
      <p:sp>
        <p:nvSpPr>
          <p:cNvPr id="129" name="Google Shape;129;p18"/>
          <p:cNvSpPr txBox="1"/>
          <p:nvPr/>
        </p:nvSpPr>
        <p:spPr>
          <a:xfrm>
            <a:off x="3765625" y="825925"/>
            <a:ext cx="1485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Simplify the parts ordering process</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Improving maintenance efficiency</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Enhance inventory management</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Improve part delivery reliability</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30" name="Google Shape;130;p18"/>
          <p:cNvSpPr txBox="1"/>
          <p:nvPr/>
        </p:nvSpPr>
        <p:spPr>
          <a:xfrm>
            <a:off x="5437600" y="2188325"/>
            <a:ext cx="15582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Phase 1: Research and Interviews</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Phase 2: MVP development and testing</a:t>
            </a:r>
            <a:endParaRPr sz="1000">
              <a:solidFill>
                <a:schemeClr val="dk2"/>
              </a:solidFill>
            </a:endParaRPr>
          </a:p>
          <a:p>
            <a:pPr indent="0" lvl="0" marL="0" rtl="0" algn="l">
              <a:spcBef>
                <a:spcPts val="0"/>
              </a:spcBef>
              <a:spcAft>
                <a:spcPts val="0"/>
              </a:spcAft>
              <a:buClr>
                <a:schemeClr val="dk1"/>
              </a:buClr>
              <a:buSzPts val="1100"/>
              <a:buFont typeface="Arial"/>
              <a:buNone/>
            </a:pPr>
            <a:r>
              <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31" name="Google Shape;131;p18"/>
          <p:cNvSpPr txBox="1"/>
          <p:nvPr/>
        </p:nvSpPr>
        <p:spPr>
          <a:xfrm>
            <a:off x="2060000" y="2203375"/>
            <a:ext cx="1728900" cy="126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solidFill>
                  <a:schemeClr val="dk2"/>
                </a:solidFill>
              </a:rPr>
              <a:t>Technical order system</a:t>
            </a:r>
            <a:endParaRPr sz="900">
              <a:solidFill>
                <a:schemeClr val="dk2"/>
              </a:solidFill>
            </a:endParaRPr>
          </a:p>
          <a:p>
            <a:pPr indent="0" lvl="0" marL="0" rtl="0" algn="l">
              <a:lnSpc>
                <a:spcPct val="115000"/>
              </a:lnSpc>
              <a:spcBef>
                <a:spcPts val="1200"/>
              </a:spcBef>
              <a:spcAft>
                <a:spcPts val="0"/>
              </a:spcAft>
              <a:buNone/>
            </a:pPr>
            <a:r>
              <a:rPr lang="en" sz="900">
                <a:solidFill>
                  <a:schemeClr val="dk2"/>
                </a:solidFill>
              </a:rPr>
              <a:t>NSN database</a:t>
            </a:r>
            <a:endParaRPr sz="9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 sz="900">
                <a:solidFill>
                  <a:schemeClr val="dk2"/>
                </a:solidFill>
              </a:rPr>
              <a:t>G081 ordering system</a:t>
            </a:r>
            <a:endParaRPr sz="900">
              <a:solidFill>
                <a:schemeClr val="dk2"/>
              </a:solidFill>
            </a:endParaRPr>
          </a:p>
          <a:p>
            <a:pPr indent="0" lvl="0" marL="0" rtl="0" algn="l">
              <a:lnSpc>
                <a:spcPct val="115000"/>
              </a:lnSpc>
              <a:spcBef>
                <a:spcPts val="1200"/>
              </a:spcBef>
              <a:spcAft>
                <a:spcPts val="1200"/>
              </a:spcAft>
              <a:buClr>
                <a:schemeClr val="dk1"/>
              </a:buClr>
              <a:buSzPts val="1100"/>
              <a:buFont typeface="Arial"/>
              <a:buNone/>
            </a:pPr>
            <a:r>
              <a:rPr lang="en" sz="900">
                <a:solidFill>
                  <a:schemeClr val="dk2"/>
                </a:solidFill>
              </a:rPr>
              <a:t>AAR mobility catalogue</a:t>
            </a:r>
            <a:endParaRPr sz="900">
              <a:solidFill>
                <a:schemeClr val="dk2"/>
              </a:solidFill>
            </a:endParaRPr>
          </a:p>
        </p:txBody>
      </p:sp>
      <p:sp>
        <p:nvSpPr>
          <p:cNvPr id="132" name="Google Shape;132;p18"/>
          <p:cNvSpPr txBox="1"/>
          <p:nvPr/>
        </p:nvSpPr>
        <p:spPr>
          <a:xfrm>
            <a:off x="8418150" y="153775"/>
            <a:ext cx="1041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v3</a:t>
            </a:r>
            <a:endParaRPr sz="13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Value Proposition Canvas</a:t>
            </a:r>
            <a:endParaRPr/>
          </a:p>
        </p:txBody>
      </p:sp>
      <p:sp>
        <p:nvSpPr>
          <p:cNvPr id="138" name="Google Shape;138;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19"/>
          <p:cNvPicPr preferRelativeResize="0"/>
          <p:nvPr/>
        </p:nvPicPr>
        <p:blipFill>
          <a:blip r:embed="rId3">
            <a:alphaModFix/>
          </a:blip>
          <a:stretch>
            <a:fillRect/>
          </a:stretch>
        </p:blipFill>
        <p:spPr>
          <a:xfrm>
            <a:off x="-2" y="0"/>
            <a:ext cx="9144003" cy="5143499"/>
          </a:xfrm>
          <a:prstGeom prst="rect">
            <a:avLst/>
          </a:prstGeom>
          <a:noFill/>
          <a:ln>
            <a:noFill/>
          </a:ln>
        </p:spPr>
      </p:pic>
      <p:sp>
        <p:nvSpPr>
          <p:cNvPr id="140" name="Google Shape;140;p19"/>
          <p:cNvSpPr txBox="1"/>
          <p:nvPr/>
        </p:nvSpPr>
        <p:spPr>
          <a:xfrm>
            <a:off x="4752800" y="2749350"/>
            <a:ext cx="2305500" cy="78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2"/>
                </a:solidFill>
              </a:rPr>
              <a:t>Complex parts ordering process</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Excessive ordering time</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Poor supply chain communication</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Messy inventory management</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41" name="Google Shape;141;p19"/>
          <p:cNvSpPr txBox="1"/>
          <p:nvPr/>
        </p:nvSpPr>
        <p:spPr>
          <a:xfrm>
            <a:off x="1561125" y="2893000"/>
            <a:ext cx="2789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2"/>
                </a:solidFill>
              </a:rPr>
              <a:t>Simplify the ordering process</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Optimize supply chain communication</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Enhance inventory management capabilities</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42" name="Google Shape;142;p19"/>
          <p:cNvSpPr txBox="1"/>
          <p:nvPr/>
        </p:nvSpPr>
        <p:spPr>
          <a:xfrm>
            <a:off x="7498775" y="1463025"/>
            <a:ext cx="1776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chemeClr val="dk2"/>
                </a:solidFill>
              </a:rPr>
              <a:t>Maintain and manage the KC-46 crew</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Timely ordering and receiving of parts</a:t>
            </a:r>
            <a:endParaRPr sz="1000">
              <a:solidFill>
                <a:schemeClr val="dk2"/>
              </a:solidFill>
            </a:endParaRPr>
          </a:p>
          <a:p>
            <a:pPr indent="0" lvl="0" marL="0" rtl="0" algn="l">
              <a:spcBef>
                <a:spcPts val="0"/>
              </a:spcBef>
              <a:spcAft>
                <a:spcPts val="0"/>
              </a:spcAft>
              <a:buClr>
                <a:schemeClr val="dk1"/>
              </a:buClr>
              <a:buSzPts val="1100"/>
              <a:buFont typeface="Arial"/>
              <a:buNone/>
            </a:pPr>
            <a:r>
              <a:rPr lang="en" sz="1000">
                <a:solidFill>
                  <a:schemeClr val="dk2"/>
                </a:solidFill>
              </a:rPr>
              <a:t>Optimize inventory management</a:t>
            </a:r>
            <a:endParaRPr sz="1000">
              <a:solidFill>
                <a:schemeClr val="dk2"/>
              </a:solidFill>
            </a:endParaRPr>
          </a:p>
          <a:p>
            <a:pPr indent="0" lvl="0" marL="0" rtl="0" algn="l">
              <a:spcBef>
                <a:spcPts val="0"/>
              </a:spcBef>
              <a:spcAft>
                <a:spcPts val="0"/>
              </a:spcAft>
              <a:buNone/>
            </a:pPr>
            <a:r>
              <a:t/>
            </a:r>
            <a:endParaRPr sz="1000">
              <a:solidFill>
                <a:schemeClr val="dk2"/>
              </a:solidFill>
            </a:endParaRPr>
          </a:p>
        </p:txBody>
      </p:sp>
      <p:sp>
        <p:nvSpPr>
          <p:cNvPr id="143" name="Google Shape;143;p19"/>
          <p:cNvSpPr txBox="1"/>
          <p:nvPr/>
        </p:nvSpPr>
        <p:spPr>
          <a:xfrm>
            <a:off x="4752800" y="1950225"/>
            <a:ext cx="2789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accent1"/>
                </a:solidFill>
                <a:latin typeface="Lato"/>
                <a:ea typeface="Lato"/>
                <a:cs typeface="Lato"/>
                <a:sym typeface="Lato"/>
              </a:rPr>
              <a:t>Improved efficiency of aircraft maintenance</a:t>
            </a:r>
            <a:endParaRPr sz="1000">
              <a:solidFill>
                <a:schemeClr val="accent1"/>
              </a:solidFill>
              <a:latin typeface="Lato"/>
              <a:ea typeface="Lato"/>
              <a:cs typeface="Lato"/>
              <a:sym typeface="Lato"/>
            </a:endParaRPr>
          </a:p>
          <a:p>
            <a:pPr indent="0" lvl="0" marL="0" rtl="0" algn="l">
              <a:spcBef>
                <a:spcPts val="0"/>
              </a:spcBef>
              <a:spcAft>
                <a:spcPts val="0"/>
              </a:spcAft>
              <a:buNone/>
            </a:pPr>
            <a:r>
              <a:rPr lang="en" sz="1000">
                <a:solidFill>
                  <a:schemeClr val="accent1"/>
                </a:solidFill>
                <a:latin typeface="Lato"/>
                <a:ea typeface="Lato"/>
                <a:cs typeface="Lato"/>
                <a:sym typeface="Lato"/>
              </a:rPr>
              <a:t>Optimize inventory management</a:t>
            </a:r>
            <a:endParaRPr sz="10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
            </a:r>
            <a:r>
              <a:rPr lang="en"/>
              <a:t>hat we learned this week</a:t>
            </a:r>
            <a:endParaRPr/>
          </a:p>
        </p:txBody>
      </p:sp>
      <p:sp>
        <p:nvSpPr>
          <p:cNvPr id="149" name="Google Shape;14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Interview maintenance staff in-depth to understand current pain points and needs in the parts ordering process.</a:t>
            </a:r>
            <a:endParaRPr sz="1600"/>
          </a:p>
          <a:p>
            <a:pPr indent="0" lvl="0" marL="0" rtl="0" algn="l">
              <a:spcBef>
                <a:spcPts val="1200"/>
              </a:spcBef>
              <a:spcAft>
                <a:spcPts val="0"/>
              </a:spcAft>
              <a:buNone/>
            </a:pPr>
            <a:r>
              <a:rPr lang="en" sz="1600"/>
              <a:t>Takeaways:</a:t>
            </a:r>
            <a:endParaRPr sz="1600"/>
          </a:p>
          <a:p>
            <a:pPr indent="0" lvl="0" marL="0" rtl="0" algn="l">
              <a:spcBef>
                <a:spcPts val="1200"/>
              </a:spcBef>
              <a:spcAft>
                <a:spcPts val="1200"/>
              </a:spcAft>
              <a:buNone/>
            </a:pPr>
            <a:r>
              <a:rPr lang="en" sz="1600"/>
              <a:t>Clarified the complexity of the ordering process and missing information.</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Interviews &amp; Experiments for Next Week</a:t>
            </a:r>
            <a:endParaRPr/>
          </a:p>
        </p:txBody>
      </p:sp>
      <p:sp>
        <p:nvSpPr>
          <p:cNvPr id="155" name="Google Shape;15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whole squadron.</a:t>
            </a:r>
            <a:endParaRPr/>
          </a:p>
          <a:p>
            <a:pPr indent="0" lvl="0" marL="0" rtl="0" algn="l">
              <a:spcBef>
                <a:spcPts val="1200"/>
              </a:spcBef>
              <a:spcAft>
                <a:spcPts val="0"/>
              </a:spcAft>
              <a:buNone/>
            </a:pPr>
            <a:r>
              <a:rPr lang="en"/>
              <a:t>The employees from Boeing.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6" name="Google Shape;156;p21"/>
          <p:cNvPicPr preferRelativeResize="0"/>
          <p:nvPr/>
        </p:nvPicPr>
        <p:blipFill>
          <a:blip r:embed="rId3">
            <a:alphaModFix/>
          </a:blip>
          <a:stretch>
            <a:fillRect/>
          </a:stretch>
        </p:blipFill>
        <p:spPr>
          <a:xfrm>
            <a:off x="4476678" y="2147825"/>
            <a:ext cx="3509950" cy="1972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