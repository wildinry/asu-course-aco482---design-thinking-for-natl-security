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9ab89bbf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9ab89bbf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1ec0cab82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1ec0cab8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This project focuses on the parts ordering challenges faced by U.S. Air Force KC-46 during Seat Pallet maintenance.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Insufficient technical order (TO) information from third-party vendors, makes it difficult for maintenance personnel to obtain part numbers and National Stock Numbers (NSN) for specific components, resulting in maintenance delays.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a46976c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a46976c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1ec0ca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1ec0ca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a46976cf0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a46976cf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a56f11b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a56f11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e649d8a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e649d8a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9ab89bbf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9ab89bbf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9ab89bbf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9ab89bbf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• Long procurement times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• Missing part numbers and documentation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  • Limited stock, forcing cannibalization of parts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Ordering system not intuitive enough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e649d8a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e649d8a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ad4850e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ad4850e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ad4850e7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ad4850e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ad4850e7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ad4850e7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a56f11b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a56f11b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a46976cf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a46976cf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developed more potential MVP,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(Future Plan)Ask about: more interviews, to comfrim more information and details, and let the interviewer know and </a:t>
            </a:r>
            <a:r>
              <a:rPr lang="zh-CN">
                <a:solidFill>
                  <a:schemeClr val="dk1"/>
                </a:solidFill>
              </a:rPr>
              <a:t>judge</a:t>
            </a:r>
            <a:r>
              <a:rPr lang="zh-CN"/>
              <a:t> our MVP. perfect MVP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USAF-558 - Supply Chain Communication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729625" y="3172900"/>
            <a:ext cx="76881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Carter Vannelli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Matthew Glos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Ryan Becker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Liuhai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Hao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117025" y="1219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Introduction</a:t>
            </a:r>
            <a:r>
              <a:rPr lang="zh-CN" sz="2550"/>
              <a:t>- Boeing KC-46A Pegasus  </a:t>
            </a:r>
            <a:r>
              <a:rPr lang="zh-CN"/>
              <a:t>     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117025" y="1754227"/>
            <a:ext cx="49104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3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zh-CN" sz="1305"/>
              <a:t>Primary operations: </a:t>
            </a:r>
            <a:endParaRPr b="1" sz="1305"/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Personnel and cargo transport</a:t>
            </a:r>
            <a:endParaRPr sz="1305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zh-CN" sz="1305"/>
              <a:t>Problem:</a:t>
            </a:r>
            <a:endParaRPr b="1" sz="1305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Part ordering process delays, Missing part number and NSN,</a:t>
            </a:r>
            <a:endParaRPr sz="1305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Severe restrictions on unofficial documents and tools, </a:t>
            </a:r>
            <a:endParaRPr sz="1305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Low communication efficiency</a:t>
            </a:r>
            <a:endParaRPr sz="130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zh-CN" sz="1305"/>
              <a:t>MVP:  </a:t>
            </a:r>
            <a:endParaRPr b="1" sz="1305"/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Database Solution</a:t>
            </a:r>
            <a:endParaRPr sz="1305"/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CN" sz="1305"/>
              <a:t>part number- NSN information- relevant data </a:t>
            </a:r>
            <a:endParaRPr sz="1305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05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305"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850" y="2118237"/>
            <a:ext cx="4150926" cy="282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Beneficiary Discovery</a:t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551125" y="2223150"/>
            <a:ext cx="177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Daniel P. Schubert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2/20 Phone Interview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785428" y="4488125"/>
            <a:ext cx="136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Jeffrey R. Porter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235000" y="2223150"/>
            <a:ext cx="181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Aaron Dangelillo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2/8 Phone Interview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3/28 Phone interview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3930347" y="4488125"/>
            <a:ext cx="98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Cancelled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9" name="Google Shape;149;p27"/>
          <p:cNvCxnSpPr>
            <a:stCxn id="146" idx="3"/>
            <a:endCxn id="148" idx="1"/>
          </p:cNvCxnSpPr>
          <p:nvPr/>
        </p:nvCxnSpPr>
        <p:spPr>
          <a:xfrm>
            <a:off x="2154328" y="4680575"/>
            <a:ext cx="1776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7"/>
          <p:cNvCxnSpPr>
            <a:stCxn id="145" idx="3"/>
            <a:endCxn id="147" idx="1"/>
          </p:cNvCxnSpPr>
          <p:nvPr/>
        </p:nvCxnSpPr>
        <p:spPr>
          <a:xfrm>
            <a:off x="2327125" y="2515650"/>
            <a:ext cx="1908000" cy="1002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7"/>
          <p:cNvSpPr txBox="1"/>
          <p:nvPr/>
        </p:nvSpPr>
        <p:spPr>
          <a:xfrm>
            <a:off x="7146900" y="1053150"/>
            <a:ext cx="140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500+ coworkers email</a:t>
            </a:r>
            <a:endParaRPr sz="13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2" name="Google Shape;152;p27"/>
          <p:cNvCxnSpPr>
            <a:stCxn id="147" idx="3"/>
            <a:endCxn id="151" idx="1"/>
          </p:cNvCxnSpPr>
          <p:nvPr/>
        </p:nvCxnSpPr>
        <p:spPr>
          <a:xfrm flipH="1" rot="10800000">
            <a:off x="6046700" y="1345800"/>
            <a:ext cx="1100100" cy="12699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7"/>
          <p:cNvSpPr txBox="1"/>
          <p:nvPr/>
        </p:nvSpPr>
        <p:spPr>
          <a:xfrm>
            <a:off x="2154325" y="2974713"/>
            <a:ext cx="165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Albert Tolbert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Azi Williams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Joshua Cintron Ruiz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7146900" y="1638150"/>
            <a:ext cx="123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Site Manager: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Reid Guffey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7146900" y="2223150"/>
            <a:ext cx="1408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FSR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Rob Heap (Lead)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Jonathan Bond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Jeff Braskamp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William Church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Donterrio Erby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Mark Owens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James Guffey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7146900" y="3993000"/>
            <a:ext cx="1617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FSR-S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Alex Chien (Lead)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Jesse Boehm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7" name="Google Shape;157;p27"/>
          <p:cNvCxnSpPr>
            <a:stCxn id="147" idx="3"/>
            <a:endCxn id="154" idx="1"/>
          </p:cNvCxnSpPr>
          <p:nvPr/>
        </p:nvCxnSpPr>
        <p:spPr>
          <a:xfrm flipH="1" rot="10800000">
            <a:off x="6046700" y="1930800"/>
            <a:ext cx="1100100" cy="6849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7"/>
          <p:cNvCxnSpPr>
            <a:stCxn id="147" idx="3"/>
            <a:endCxn id="155" idx="1"/>
          </p:cNvCxnSpPr>
          <p:nvPr/>
        </p:nvCxnSpPr>
        <p:spPr>
          <a:xfrm>
            <a:off x="6046700" y="2615700"/>
            <a:ext cx="1100100" cy="6003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7"/>
          <p:cNvCxnSpPr>
            <a:stCxn id="147" idx="3"/>
            <a:endCxn id="156" idx="1"/>
          </p:cNvCxnSpPr>
          <p:nvPr/>
        </p:nvCxnSpPr>
        <p:spPr>
          <a:xfrm>
            <a:off x="6046700" y="2615700"/>
            <a:ext cx="1100100" cy="17700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7"/>
          <p:cNvCxnSpPr>
            <a:stCxn id="145" idx="2"/>
            <a:endCxn id="153" idx="1"/>
          </p:cNvCxnSpPr>
          <p:nvPr/>
        </p:nvCxnSpPr>
        <p:spPr>
          <a:xfrm flipH="1" rot="-5400000">
            <a:off x="1517125" y="2730150"/>
            <a:ext cx="559200" cy="715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7"/>
          <p:cNvSpPr txBox="1"/>
          <p:nvPr/>
        </p:nvSpPr>
        <p:spPr>
          <a:xfrm>
            <a:off x="4159550" y="3058050"/>
            <a:ext cx="1962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FSR Richard Zambori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Lato"/>
                <a:ea typeface="Lato"/>
                <a:cs typeface="Lato"/>
                <a:sym typeface="Lato"/>
              </a:rPr>
              <a:t>2/ 25 Email Questionairre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2" name="Google Shape;162;p27"/>
          <p:cNvCxnSpPr>
            <a:stCxn id="147" idx="2"/>
            <a:endCxn id="161" idx="0"/>
          </p:cNvCxnSpPr>
          <p:nvPr/>
        </p:nvCxnSpPr>
        <p:spPr>
          <a:xfrm flipH="1" rot="-5400000">
            <a:off x="5116250" y="3032850"/>
            <a:ext cx="498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7"/>
          <p:cNvCxnSpPr>
            <a:stCxn id="145" idx="3"/>
            <a:endCxn id="147" idx="1"/>
          </p:cNvCxnSpPr>
          <p:nvPr/>
        </p:nvCxnSpPr>
        <p:spPr>
          <a:xfrm>
            <a:off x="2327125" y="2515650"/>
            <a:ext cx="1908000" cy="1002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7"/>
          <p:cNvSpPr txBox="1"/>
          <p:nvPr/>
        </p:nvSpPr>
        <p:spPr>
          <a:xfrm>
            <a:off x="205025" y="3476725"/>
            <a:ext cx="171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Asantos@bmnt.com,</a:t>
            </a:r>
            <a:endParaRPr sz="13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Hjoudi@bmnt.com</a:t>
            </a:r>
            <a:endParaRPr sz="13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Problem Statement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2650" y="756987"/>
            <a:ext cx="2722144" cy="181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1078200" y="3653475"/>
            <a:ext cx="24234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Air Force budgetary constraints do not allow KC-46 Crew chiefs to order the entire seat pallet at once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4277400" y="2978275"/>
            <a:ext cx="300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AAR Mobility does not provide sufficiently detailed TOs to get the specific part number for these parts. </a:t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1133700" y="2085650"/>
            <a:ext cx="2312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Certain pallet parts, like the emergency oxygen tank seat pouch, break often.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4" name="Google Shape;174;p28"/>
          <p:cNvCxnSpPr>
            <a:stCxn id="173" idx="3"/>
            <a:endCxn id="172" idx="0"/>
          </p:cNvCxnSpPr>
          <p:nvPr/>
        </p:nvCxnSpPr>
        <p:spPr>
          <a:xfrm>
            <a:off x="3446100" y="2508200"/>
            <a:ext cx="2331300" cy="470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8"/>
          <p:cNvCxnSpPr>
            <a:stCxn id="172" idx="2"/>
            <a:endCxn id="171" idx="3"/>
          </p:cNvCxnSpPr>
          <p:nvPr/>
        </p:nvCxnSpPr>
        <p:spPr>
          <a:xfrm rot="5400000">
            <a:off x="4455600" y="2869375"/>
            <a:ext cx="367800" cy="227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8"/>
          <p:cNvCxnSpPr>
            <a:stCxn id="171" idx="0"/>
            <a:endCxn id="173" idx="2"/>
          </p:cNvCxnSpPr>
          <p:nvPr/>
        </p:nvCxnSpPr>
        <p:spPr>
          <a:xfrm rot="-5400000">
            <a:off x="1928850" y="3291825"/>
            <a:ext cx="722700" cy="6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/>
        </p:nvSpPr>
        <p:spPr>
          <a:xfrm>
            <a:off x="2012175" y="4714900"/>
            <a:ext cx="1896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Antirattle diagram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-148475" y="-49500"/>
            <a:ext cx="9474000" cy="53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75" y="201438"/>
            <a:ext cx="4713715" cy="482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444125" y="1440851"/>
            <a:ext cx="4858800" cy="237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3575" y="951375"/>
            <a:ext cx="4616850" cy="40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37" y="0"/>
            <a:ext cx="75935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Mission Model Canvas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7182200" y="893550"/>
            <a:ext cx="1485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/>
              <a:t>Logistics Squadron,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/>
              <a:t>Dash 21, Flight Crew, Boom Operator,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/>
              <a:t>Crew Chiefs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5" name="Google Shape;205;p32"/>
          <p:cNvSpPr txBox="1"/>
          <p:nvPr/>
        </p:nvSpPr>
        <p:spPr>
          <a:xfrm>
            <a:off x="524200" y="859675"/>
            <a:ext cx="1427400" cy="2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A1A1A"/>
                </a:solidFill>
              </a:rPr>
              <a:t>USAF,</a:t>
            </a:r>
            <a:endParaRPr sz="15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A1A1A"/>
                </a:solidFill>
              </a:rPr>
              <a:t>KC-46 Crew,</a:t>
            </a:r>
            <a:endParaRPr sz="1500" strike="sngStrike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A1A1A"/>
                </a:solidFill>
              </a:rPr>
              <a:t>Defense Logistics Agency,</a:t>
            </a:r>
            <a:endParaRPr sz="15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1A1A1A"/>
                </a:solidFill>
              </a:rPr>
              <a:t>Air Logistics Centers </a:t>
            </a:r>
            <a:endParaRPr sz="1500">
              <a:solidFill>
                <a:srgbClr val="1A1A1A"/>
              </a:solidFill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524200" y="3690300"/>
            <a:ext cx="2678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5550600" y="861175"/>
            <a:ext cx="13740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2"/>
                </a:solidFill>
              </a:rPr>
              <a:t>KC-46 Crew,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strike="sngStrike">
                <a:solidFill>
                  <a:schemeClr val="dk2"/>
                </a:solidFill>
              </a:rPr>
              <a:t>AAR Mobility Systems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4687475" y="3773475"/>
            <a:ext cx="3857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Streamline parts ordering process, ensure on demand delivery of seat pallets. </a:t>
            </a:r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3765625" y="825925"/>
            <a:ext cx="1485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Simplify the collection of PN and NSN to order parts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Improving maintenance efficiency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Enhance inventory management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rgbClr val="1A1A1A"/>
                </a:solidFill>
              </a:rPr>
              <a:t>Improve part delivery reliability</a:t>
            </a:r>
            <a:endParaRPr sz="10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2060000" y="2203375"/>
            <a:ext cx="17289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900">
                <a:solidFill>
                  <a:srgbClr val="FF0000"/>
                </a:solidFill>
              </a:rPr>
              <a:t>10 man and 12 man Seat Pallet TO</a:t>
            </a:r>
            <a:endParaRPr sz="9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sz="900">
                <a:solidFill>
                  <a:schemeClr val="dk2"/>
                </a:solidFill>
              </a:rPr>
              <a:t>G081 ordering system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8418150" y="153775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v5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2115813" y="767750"/>
            <a:ext cx="148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strike="sngStrike">
                <a:solidFill>
                  <a:srgbClr val="595959"/>
                </a:solidFill>
              </a:rPr>
              <a:t>Improve the part ordering process</a:t>
            </a:r>
            <a:endParaRPr sz="1300" strike="sngStrike">
              <a:solidFill>
                <a:srgbClr val="595959"/>
              </a:solidFill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2115800" y="1293775"/>
            <a:ext cx="1485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FF0000"/>
                </a:solidFill>
              </a:rPr>
              <a:t>Improve part number </a:t>
            </a:r>
            <a:r>
              <a:rPr lang="zh-CN" sz="1300">
                <a:solidFill>
                  <a:srgbClr val="FF0000"/>
                </a:solidFill>
              </a:rPr>
              <a:t>acquisition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/>
        </p:nvSpPr>
        <p:spPr>
          <a:xfrm>
            <a:off x="5032900" y="3296450"/>
            <a:ext cx="27897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• Missing technical data</a:t>
            </a:r>
            <a:endParaRPr sz="1000">
              <a:solidFill>
                <a:srgbClr val="1A1A1A"/>
              </a:solidFill>
            </a:endParaRPr>
          </a:p>
          <a:p>
            <a:pPr indent="0" lvl="0" marL="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• Slow order processing</a:t>
            </a:r>
            <a:endParaRPr sz="1000">
              <a:solidFill>
                <a:srgbClr val="1A1A1A"/>
              </a:solidFill>
            </a:endParaRPr>
          </a:p>
          <a:p>
            <a:pPr indent="0" lvl="0" marL="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  • Poor supplier communication</a:t>
            </a:r>
            <a:endParaRPr sz="1000">
              <a:solidFill>
                <a:srgbClr val="1A1A1A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  • Inconsistent part availability</a:t>
            </a:r>
            <a:endParaRPr sz="1000">
              <a:solidFill>
                <a:srgbClr val="1A1A1A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     • Cannot order just broken seat </a:t>
            </a:r>
            <a:endParaRPr sz="1000">
              <a:solidFill>
                <a:srgbClr val="1A1A1A"/>
              </a:solidFill>
            </a:endParaRPr>
          </a:p>
          <a:p>
            <a:pPr indent="0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 </a:t>
            </a:r>
            <a:endParaRPr sz="1000">
              <a:solidFill>
                <a:srgbClr val="1A1A1A"/>
              </a:solidFill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1537950" y="3587550"/>
            <a:ext cx="2789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4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• Centralized, complete part number database</a:t>
            </a:r>
            <a:endParaRPr sz="1000">
              <a:solidFill>
                <a:schemeClr val="dk2"/>
              </a:solidFill>
            </a:endParaRPr>
          </a:p>
          <a:p>
            <a:pPr indent="0" lvl="0" marL="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• Streamlined ordering system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• Improved digital communication channels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2"/>
                </a:solidFill>
              </a:rPr>
              <a:t>• Predictive stock management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7196825" y="1863750"/>
            <a:ext cx="1870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518500" wrap="square" tIns="91425">
            <a:spAutoFit/>
          </a:bodyPr>
          <a:lstStyle/>
          <a:p>
            <a:pPr indent="0" lvl="0" marL="45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• </a:t>
            </a:r>
            <a:r>
              <a:rPr lang="zh-CN" sz="1000">
                <a:solidFill>
                  <a:schemeClr val="dk2"/>
                </a:solidFill>
              </a:rPr>
              <a:t>Maintain and manage the KC-46 crew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• Timely ordering and receiving of parts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000">
                <a:solidFill>
                  <a:schemeClr val="dk2"/>
                </a:solidFill>
              </a:rPr>
              <a:t>• Optimize inventory management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5032900" y="1863750"/>
            <a:ext cx="278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zh-CN" sz="1000">
                <a:solidFill>
                  <a:srgbClr val="1A1A1A"/>
                </a:solidFill>
              </a:rPr>
              <a:t>• </a:t>
            </a:r>
            <a:r>
              <a:rPr lang="zh-C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Smooth parts delivery service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rgbClr val="1A1A1A"/>
                </a:solidFill>
              </a:rPr>
              <a:t>• </a:t>
            </a:r>
            <a:r>
              <a:rPr lang="zh-CN" sz="10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Illustrated part breakdown</a:t>
            </a:r>
            <a:endParaRPr sz="10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7549100" y="197975"/>
            <a:ext cx="161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v6</a:t>
            </a:r>
            <a:endParaRPr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429675" y="2017500"/>
            <a:ext cx="1483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Part Number </a:t>
            </a:r>
            <a:r>
              <a:rPr lang="zh-CN" sz="11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acquisition</a:t>
            </a:r>
            <a:r>
              <a:rPr lang="zh-CN" sz="11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and part number lookup database solution</a:t>
            </a:r>
            <a:endParaRPr sz="11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1959075" y="1232400"/>
            <a:ext cx="2523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Shorten repair times through a faster and more </a:t>
            </a: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efficient</a:t>
            </a:r>
            <a:r>
              <a:rPr lang="zh-C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part procurement process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MVP Database Solution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Whiteboard method - Manually </a:t>
            </a:r>
            <a:r>
              <a:rPr lang="zh-CN"/>
              <a:t>writing</a:t>
            </a:r>
            <a:r>
              <a:rPr lang="zh-CN"/>
              <a:t> down part numbers and associated NSNs used in past orders to </a:t>
            </a:r>
            <a:r>
              <a:rPr lang="zh-CN"/>
              <a:t>simplify</a:t>
            </a:r>
            <a:r>
              <a:rPr lang="zh-CN"/>
              <a:t> the parts part number </a:t>
            </a:r>
            <a:r>
              <a:rPr lang="zh-CN"/>
              <a:t>acquisition</a:t>
            </a:r>
            <a:r>
              <a:rPr lang="zh-CN"/>
              <a:t> process in the future.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Centralizes relevant information to be used more efficiently in the future.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A solution may be to create an improved version of this system, to allow more expedient ordering of parts that need frequent replacement.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Step 1: OCR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What is it?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/>
              <a:t>	</a:t>
            </a:r>
            <a:r>
              <a:rPr lang="zh-CN"/>
              <a:t>Optical character recognition from scanned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 	images or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/>
              <a:t>Commercial Solutions:</a:t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Google Cloud Vision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Amazon Textract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Azure Computer Vision OCR</a:t>
            </a:r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000" y="1282675"/>
            <a:ext cx="3853500" cy="385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Step 2: NSN Search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729450" y="2078875"/>
            <a:ext cx="3152100" cy="25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What is it?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/>
              <a:t>	</a:t>
            </a:r>
            <a:r>
              <a:rPr lang="zh-CN"/>
              <a:t>Static or API leading to obtaining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	NSN information from OCR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text formatted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/>
              <a:t>Commercial Solutions: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ISO Group - too basic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NSN-Now - only public data</a:t>
            </a:r>
            <a:endParaRPr/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550" y="1929700"/>
            <a:ext cx="5206851" cy="281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Step 3: Combining and Tracking Data</a:t>
            </a:r>
            <a:endParaRPr/>
          </a:p>
        </p:txBody>
      </p:sp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729450" y="2078875"/>
            <a:ext cx="567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What is it?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	Sort the collected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	PN with NSN into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	and other necessary info </a:t>
            </a:r>
            <a:endParaRPr/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675" y="1913938"/>
            <a:ext cx="5478226" cy="25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Potentially useful Python Libraries</a:t>
            </a:r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729450" y="2078875"/>
            <a:ext cx="7688700" cy="26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/>
              <a:t>Convert PDF to Image</a:t>
            </a:r>
            <a:r>
              <a:rPr b="1" lang="zh-CN"/>
              <a:t>: </a:t>
            </a:r>
            <a:r>
              <a:rPr lang="zh-CN"/>
              <a:t>pdf2image, andPillow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/>
              <a:t>OCR:</a:t>
            </a:r>
            <a:r>
              <a:rPr lang="zh-CN"/>
              <a:t> </a:t>
            </a:r>
            <a:r>
              <a:rPr lang="zh-CN"/>
              <a:t>Tesseract OCR ,OCRMyPDF (adds text layer to PDF), and Calamari OCR (superior quality)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FF"/>
                </a:solidFill>
              </a:rPr>
              <a:t>Web request Libs: </a:t>
            </a:r>
            <a:r>
              <a:rPr lang="zh-CN">
                <a:solidFill>
                  <a:srgbClr val="0000FF"/>
                </a:solidFill>
              </a:rPr>
              <a:t>Requests, Beautifulsoup4, Selenium (headless)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0000FF"/>
                </a:solidFill>
              </a:rPr>
              <a:t>Speedup NSN Request Time: </a:t>
            </a:r>
            <a:r>
              <a:rPr lang="zh-CN">
                <a:solidFill>
                  <a:srgbClr val="0000FF"/>
                </a:solidFill>
              </a:rPr>
              <a:t>aiohttp, asyncio 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980000"/>
                </a:solidFill>
              </a:rPr>
              <a:t>Data Handling: </a:t>
            </a:r>
            <a:r>
              <a:rPr lang="zh-CN">
                <a:solidFill>
                  <a:srgbClr val="980000"/>
                </a:solidFill>
              </a:rPr>
              <a:t>P</a:t>
            </a:r>
            <a:r>
              <a:rPr lang="zh-CN">
                <a:solidFill>
                  <a:srgbClr val="980000"/>
                </a:solidFill>
              </a:rPr>
              <a:t>andas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980000"/>
                </a:solidFill>
              </a:rPr>
              <a:t>Database Storage: </a:t>
            </a:r>
            <a:r>
              <a:rPr lang="zh-CN">
                <a:solidFill>
                  <a:srgbClr val="980000"/>
                </a:solidFill>
              </a:rPr>
              <a:t>Sqlite3, Sqlalchemy and </a:t>
            </a:r>
            <a:r>
              <a:rPr lang="zh-CN">
                <a:solidFill>
                  <a:srgbClr val="980000"/>
                </a:solidFill>
              </a:rPr>
              <a:t>PostgreSQL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38761D"/>
                </a:solidFill>
              </a:rPr>
              <a:t>Vizualization: </a:t>
            </a:r>
            <a:r>
              <a:rPr lang="zh-CN">
                <a:solidFill>
                  <a:srgbClr val="38761D"/>
                </a:solidFill>
              </a:rPr>
              <a:t>Matplotlib, Seaborn and Tableau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CN">
                <a:solidFill>
                  <a:srgbClr val="38761D"/>
                </a:solidFill>
              </a:rPr>
              <a:t>Formatting:</a:t>
            </a:r>
            <a:r>
              <a:rPr lang="zh-CN">
                <a:solidFill>
                  <a:srgbClr val="38761D"/>
                </a:solidFill>
              </a:rPr>
              <a:t> Excel and Latex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59" name="Google Shape;259;p38"/>
          <p:cNvSpPr/>
          <p:nvPr/>
        </p:nvSpPr>
        <p:spPr>
          <a:xfrm>
            <a:off x="7409025" y="2078875"/>
            <a:ext cx="1163512" cy="53520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OCR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38"/>
          <p:cNvSpPr/>
          <p:nvPr/>
        </p:nvSpPr>
        <p:spPr>
          <a:xfrm>
            <a:off x="7409025" y="2790025"/>
            <a:ext cx="1163525" cy="459838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NSN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38"/>
          <p:cNvSpPr/>
          <p:nvPr/>
        </p:nvSpPr>
        <p:spPr>
          <a:xfrm>
            <a:off x="7053375" y="3488025"/>
            <a:ext cx="1874825" cy="4598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DATA HANDLE</a:t>
            </a:r>
            <a:endParaRPr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38"/>
          <p:cNvSpPr/>
          <p:nvPr/>
        </p:nvSpPr>
        <p:spPr>
          <a:xfrm>
            <a:off x="7409025" y="4186050"/>
            <a:ext cx="1163525" cy="459850"/>
          </a:xfrm>
          <a:prstGeom prst="flowChart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FORMAT</a:t>
            </a:r>
            <a:endParaRPr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" name="Google Shape;263;p38"/>
          <p:cNvCxnSpPr>
            <a:stCxn id="259" idx="3"/>
            <a:endCxn id="260" idx="3"/>
          </p:cNvCxnSpPr>
          <p:nvPr/>
        </p:nvCxnSpPr>
        <p:spPr>
          <a:xfrm>
            <a:off x="8572538" y="2346475"/>
            <a:ext cx="600" cy="673500"/>
          </a:xfrm>
          <a:prstGeom prst="bentConnector3">
            <a:avLst>
              <a:gd fmla="val 396895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" name="Google Shape;264;p38"/>
          <p:cNvCxnSpPr>
            <a:stCxn id="260" idx="1"/>
            <a:endCxn id="261" idx="1"/>
          </p:cNvCxnSpPr>
          <p:nvPr/>
        </p:nvCxnSpPr>
        <p:spPr>
          <a:xfrm flipH="1">
            <a:off x="7053525" y="3019944"/>
            <a:ext cx="355500" cy="698100"/>
          </a:xfrm>
          <a:prstGeom prst="bentConnector3">
            <a:avLst>
              <a:gd fmla="val 16702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38"/>
          <p:cNvCxnSpPr>
            <a:stCxn id="261" idx="3"/>
            <a:endCxn id="262" idx="3"/>
          </p:cNvCxnSpPr>
          <p:nvPr/>
        </p:nvCxnSpPr>
        <p:spPr>
          <a:xfrm flipH="1">
            <a:off x="8572700" y="3717950"/>
            <a:ext cx="355500" cy="698100"/>
          </a:xfrm>
          <a:prstGeom prst="bentConnector3">
            <a:avLst>
              <a:gd fmla="val -669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Outro</a:t>
            </a:r>
            <a:endParaRPr/>
          </a:p>
        </p:txBody>
      </p:sp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729450" y="2078875"/>
            <a:ext cx="7688700" cy="28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200"/>
              <a:t>MVP:</a:t>
            </a:r>
            <a:endParaRPr b="1" sz="5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5200"/>
              <a:t>Database Solution</a:t>
            </a:r>
            <a:endParaRPr sz="476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4764"/>
              <a:t>Objective:</a:t>
            </a:r>
            <a:endParaRPr b="1" sz="4764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5200"/>
              <a:t>Relieve KC-46 ground crews of routine maintenance pressures</a:t>
            </a:r>
            <a:endParaRPr sz="5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5200"/>
              <a:t>Model solutions for other aircraft types</a:t>
            </a:r>
            <a:endParaRPr sz="5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5200"/>
              <a:t>Explore unofficial tool aids in parallel with the IETM system</a:t>
            </a:r>
            <a:endParaRPr sz="52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6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