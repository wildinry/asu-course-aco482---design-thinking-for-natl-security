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alewa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549b7077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549b7077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549b7077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549b7077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549b7077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549b7077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549b7077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549b7077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549b7077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549b7077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7df1d59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37df1d59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7df1d59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7df1d59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7df1d59f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7df1d59f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17ef3a20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317ef3a20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17ef3a2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317ef3a2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800">
                <a:solidFill>
                  <a:srgbClr val="595959"/>
                </a:solidFill>
              </a:rPr>
              <a:t>The employees from Boeing. They had a lot of insight into the actual system and the workarounds they took to update the content.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USAF-558 - Supply Chain Communication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729625" y="3172900"/>
            <a:ext cx="76881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Carter Vannelli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Matthew Glos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Hao Wang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Ryan Becker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Liuhai Wang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Introduction（steps of ordering system)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Requirements Identification(like number of refueling machines)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Procurement Process(The Air Force issues a formal request for proposals)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Production &amp; Development(The supplier designs the prototype according to the contract requirements)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Delivery &amp; Acceptance(Delivery of the aircraft to the Air Force, and check the performance)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Maintenance &amp; Upgrades</a:t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8075" y="479775"/>
            <a:ext cx="2545926" cy="173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Beneficiary Discovery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556350" y="2438475"/>
            <a:ext cx="154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Daniel P. Schubert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1263978" y="3760225"/>
            <a:ext cx="13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Jeffrey R. Porter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324725" y="2438475"/>
            <a:ext cx="147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Aaron Dangelillo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4408897" y="3760225"/>
            <a:ext cx="98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Cancelled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" name="Google Shape;149;p27"/>
          <p:cNvCxnSpPr>
            <a:stCxn id="146" idx="3"/>
            <a:endCxn id="148" idx="1"/>
          </p:cNvCxnSpPr>
          <p:nvPr/>
        </p:nvCxnSpPr>
        <p:spPr>
          <a:xfrm>
            <a:off x="2632878" y="3952675"/>
            <a:ext cx="177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7"/>
          <p:cNvCxnSpPr>
            <a:stCxn id="145" idx="3"/>
            <a:endCxn id="147" idx="0"/>
          </p:cNvCxnSpPr>
          <p:nvPr/>
        </p:nvCxnSpPr>
        <p:spPr>
          <a:xfrm flipH="1" rot="10800000">
            <a:off x="3098050" y="2438625"/>
            <a:ext cx="2964000" cy="192300"/>
          </a:xfrm>
          <a:prstGeom prst="curvedConnector4">
            <a:avLst>
              <a:gd fmla="val 37562" name="adj1"/>
              <a:gd fmla="val 22390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7"/>
          <p:cNvCxnSpPr>
            <a:stCxn id="147" idx="1"/>
            <a:endCxn id="145" idx="2"/>
          </p:cNvCxnSpPr>
          <p:nvPr/>
        </p:nvCxnSpPr>
        <p:spPr>
          <a:xfrm flipH="1">
            <a:off x="2327125" y="2630925"/>
            <a:ext cx="2997600" cy="192600"/>
          </a:xfrm>
          <a:prstGeom prst="curvedConnector4">
            <a:avLst>
              <a:gd fmla="val 37141" name="adj1"/>
              <a:gd fmla="val 22355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7"/>
          <p:cNvSpPr txBox="1"/>
          <p:nvPr/>
        </p:nvSpPr>
        <p:spPr>
          <a:xfrm>
            <a:off x="6699850" y="3478175"/>
            <a:ext cx="140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500+ coworkers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3" name="Google Shape;153;p27"/>
          <p:cNvCxnSpPr>
            <a:stCxn id="147" idx="3"/>
            <a:endCxn id="152" idx="0"/>
          </p:cNvCxnSpPr>
          <p:nvPr/>
        </p:nvCxnSpPr>
        <p:spPr>
          <a:xfrm>
            <a:off x="6799525" y="2630925"/>
            <a:ext cx="604800" cy="847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Mission Model Canvas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7182200" y="893550"/>
            <a:ext cx="1485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2"/>
                </a:solidFill>
              </a:rPr>
              <a:t>KC 46 Aircraft Maintenance Squadron,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2"/>
                </a:solidFill>
              </a:rPr>
              <a:t>Aircraft Pilots,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2"/>
                </a:solidFill>
              </a:rPr>
              <a:t>Logistics Squadron,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2"/>
                </a:solidFill>
              </a:rPr>
              <a:t>Other members on the base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524200" y="859675"/>
            <a:ext cx="1427400" cy="2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USAF,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KC-46 Crew,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AAR Mobility Systems,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Boeing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524200" y="3690300"/>
            <a:ext cx="2678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5550600" y="861175"/>
            <a:ext cx="13740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2"/>
                </a:solidFill>
              </a:rPr>
              <a:t>KC-46 Crew,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2"/>
                </a:solidFill>
              </a:rPr>
              <a:t>AAR Mobility Systems,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2"/>
                </a:solidFill>
              </a:rPr>
              <a:t>USAF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4687475" y="3773475"/>
            <a:ext cx="3857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Allow end-users to more efficiently inventory,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order, and maintain equipments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3765625" y="825925"/>
            <a:ext cx="148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Simplify the parts ordering process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Improving maintenance efficiency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Enhance inventory management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Improve part delivery reliability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5437600" y="2188325"/>
            <a:ext cx="155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Phase 1: Research and Interviews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Phase 2: MVP development and testing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2060000" y="2203375"/>
            <a:ext cx="17289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dk2"/>
                </a:solidFill>
              </a:rPr>
              <a:t>Technical order system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dk2"/>
                </a:solidFill>
              </a:rPr>
              <a:t>NSN database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900">
                <a:solidFill>
                  <a:schemeClr val="dk2"/>
                </a:solidFill>
              </a:rPr>
              <a:t>G081 ordering system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900">
                <a:solidFill>
                  <a:schemeClr val="dk2"/>
                </a:solidFill>
              </a:rPr>
              <a:t>AAR mobility catalogue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8418150" y="153775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v3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2059988" y="893550"/>
            <a:ext cx="148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</a:rPr>
              <a:t>Improve the part ordering process</a:t>
            </a:r>
            <a:endParaRPr sz="1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Value Proposition Canvas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/>
        </p:nvSpPr>
        <p:spPr>
          <a:xfrm>
            <a:off x="4752800" y="2749350"/>
            <a:ext cx="23055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Complex parts ordering process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Excessive ordering time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Poor supply chain communication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Messy inventory management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1561125" y="2893000"/>
            <a:ext cx="278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Simplify the ordering process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Optimize supply chain communication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Enhance inventory management capabilities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7498775" y="1463025"/>
            <a:ext cx="1776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Maintain and manage the KC-46 crew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Timely ordering and receiving of parts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Optimize inventory management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4752800" y="1950225"/>
            <a:ext cx="278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Improved efficiency of aircraft maintenance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Optimize inventory management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Parts Ordering Outline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855700" y="2122650"/>
            <a:ext cx="11325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Broken Part</a:t>
            </a:r>
            <a:endParaRPr/>
          </a:p>
        </p:txBody>
      </p:sp>
      <p:sp>
        <p:nvSpPr>
          <p:cNvPr id="188" name="Google Shape;188;p30"/>
          <p:cNvSpPr txBox="1"/>
          <p:nvPr/>
        </p:nvSpPr>
        <p:spPr>
          <a:xfrm>
            <a:off x="3024950" y="2154750"/>
            <a:ext cx="62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G081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3011600" y="3777200"/>
            <a:ext cx="65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NSN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284400" y="3125950"/>
            <a:ext cx="124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AAR Mobility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5224575" y="2640350"/>
            <a:ext cx="92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Boeing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5184650" y="2154750"/>
            <a:ext cx="141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 Base Supply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3" name="Google Shape;193;p30"/>
          <p:cNvCxnSpPr>
            <a:stCxn id="187" idx="3"/>
            <a:endCxn id="188" idx="1"/>
          </p:cNvCxnSpPr>
          <p:nvPr/>
        </p:nvCxnSpPr>
        <p:spPr>
          <a:xfrm>
            <a:off x="1988200" y="2347200"/>
            <a:ext cx="103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30"/>
          <p:cNvCxnSpPr>
            <a:stCxn id="188" idx="3"/>
            <a:endCxn id="191" idx="1"/>
          </p:cNvCxnSpPr>
          <p:nvPr/>
        </p:nvCxnSpPr>
        <p:spPr>
          <a:xfrm>
            <a:off x="3649550" y="2347200"/>
            <a:ext cx="1575000" cy="4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30"/>
          <p:cNvCxnSpPr>
            <a:stCxn id="188" idx="3"/>
            <a:endCxn id="192" idx="1"/>
          </p:cNvCxnSpPr>
          <p:nvPr/>
        </p:nvCxnSpPr>
        <p:spPr>
          <a:xfrm>
            <a:off x="3649550" y="2347200"/>
            <a:ext cx="153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30"/>
          <p:cNvCxnSpPr>
            <a:stCxn id="188" idx="3"/>
            <a:endCxn id="190" idx="1"/>
          </p:cNvCxnSpPr>
          <p:nvPr/>
        </p:nvCxnSpPr>
        <p:spPr>
          <a:xfrm>
            <a:off x="3649550" y="2347200"/>
            <a:ext cx="1635000" cy="9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0"/>
          <p:cNvCxnSpPr>
            <a:stCxn id="188" idx="2"/>
            <a:endCxn id="189" idx="0"/>
          </p:cNvCxnSpPr>
          <p:nvPr/>
        </p:nvCxnSpPr>
        <p:spPr>
          <a:xfrm>
            <a:off x="3337250" y="2539650"/>
            <a:ext cx="0" cy="12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0"/>
          <p:cNvSpPr txBox="1"/>
          <p:nvPr/>
        </p:nvSpPr>
        <p:spPr>
          <a:xfrm>
            <a:off x="4221125" y="3777200"/>
            <a:ext cx="113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Part Number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7557100" y="3916775"/>
            <a:ext cx="160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" name="Google Shape;200;p30"/>
          <p:cNvCxnSpPr>
            <a:stCxn id="190" idx="2"/>
            <a:endCxn id="198" idx="3"/>
          </p:cNvCxnSpPr>
          <p:nvPr/>
        </p:nvCxnSpPr>
        <p:spPr>
          <a:xfrm flipH="1">
            <a:off x="5353700" y="3510850"/>
            <a:ext cx="552000" cy="4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30"/>
          <p:cNvCxnSpPr>
            <a:stCxn id="198" idx="1"/>
            <a:endCxn id="189" idx="3"/>
          </p:cNvCxnSpPr>
          <p:nvPr/>
        </p:nvCxnSpPr>
        <p:spPr>
          <a:xfrm rot="10800000">
            <a:off x="3662825" y="3969650"/>
            <a:ext cx="55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676" y="1364425"/>
            <a:ext cx="4072300" cy="329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50" y="846625"/>
            <a:ext cx="3683138" cy="19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/>
        </p:nvSpPr>
        <p:spPr>
          <a:xfrm>
            <a:off x="307025" y="594075"/>
            <a:ext cx="38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AAR Mobility Part numbers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4958725" y="846625"/>
            <a:ext cx="345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Commonly replaced parts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150" y="3201399"/>
            <a:ext cx="4072300" cy="19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1"/>
          <p:cNvSpPr txBox="1"/>
          <p:nvPr/>
        </p:nvSpPr>
        <p:spPr>
          <a:xfrm>
            <a:off x="241450" y="2760025"/>
            <a:ext cx="38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ISO Standard NSN numbers (125M parts)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50" y="895316"/>
            <a:ext cx="2520683" cy="299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7928" y="1527111"/>
            <a:ext cx="2267955" cy="336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9114" y="618068"/>
            <a:ext cx="3598511" cy="39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794" y="0"/>
            <a:ext cx="657841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/>
          <p:nvPr/>
        </p:nvSpPr>
        <p:spPr>
          <a:xfrm>
            <a:off x="-64200" y="-46075"/>
            <a:ext cx="9381900" cy="53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544" y="44525"/>
            <a:ext cx="657841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Interviews &amp; Experiments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</a:rPr>
              <a:t>Daniel P. Schubert</a:t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</a:rPr>
              <a:t>Aaron Dangelillo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678" y="2147825"/>
            <a:ext cx="3509950" cy="19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